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501" r:id="rId6"/>
    <p:sldId id="2147470498" r:id="rId7"/>
    <p:sldId id="2147470497" r:id="rId8"/>
    <p:sldId id="2147470487" r:id="rId9"/>
    <p:sldId id="2147470499" r:id="rId10"/>
    <p:sldId id="2147470504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rychroma.com/" TargetMode="External"/><Relationship Id="rId2" Type="http://schemas.openxmlformats.org/officeDocument/2006/relationships/hyperlink" Target="https://kafka.apache.org/documentation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Hybrid Predictive-Generative Customer Retention: Integrating Tabular Churn Prediction with RAG-Powered Knowledge Retrieval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Swapnadeep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Das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Customer churn is a critical challenge in the telecom industry, directly impacting revenue.</a:t>
            </a:r>
          </a:p>
          <a:p>
            <a:pPr lvl="0"/>
            <a:r>
              <a:rPr lang="en-IN" sz="2400" dirty="0"/>
              <a:t>Traditional churn prediction models are static and lack real-time intervention capabilities.</a:t>
            </a:r>
          </a:p>
          <a:p>
            <a:pPr lvl="0"/>
            <a:r>
              <a:rPr lang="en-IN" sz="2400" dirty="0"/>
              <a:t>This project introduces a dynamic, real-time streaming platform that not only predicts churn on the fly but also explains the reasoning and suggests immediate retention strategies using Generative AI.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To deploy a robust machine learning pipeline for real-time churn prediction.</a:t>
            </a:r>
          </a:p>
          <a:p>
            <a:pPr lvl="0"/>
            <a:r>
              <a:rPr lang="en-IN" sz="2400" dirty="0"/>
              <a:t>To integrate a Retrieval-Augmented Generation (RAG) system for automated, policy-compliant retention offers.</a:t>
            </a:r>
          </a:p>
          <a:p>
            <a:pPr lvl="0"/>
            <a:r>
              <a:rPr lang="en-IN" sz="2400" dirty="0"/>
              <a:t>To implement Explainable AI (XAI) for transparent model decision-making.</a:t>
            </a:r>
          </a:p>
          <a:p>
            <a:pPr lvl="0"/>
            <a:r>
              <a:rPr lang="en-IN" sz="2400" dirty="0"/>
              <a:t>To build an interactive, live telemetry dashboard to monitor system performance and customer risk in real-time.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Delayed Action: Batch-processing churn models identify at-risk customers too late, missing the window for effective retention.</a:t>
            </a:r>
          </a:p>
          <a:p>
            <a:pPr lvl="0"/>
            <a:r>
              <a:rPr lang="en-IN" sz="2400" dirty="0"/>
              <a:t>Lack of Transparency: Complex ML models act as "black boxes," making it difficult for stakeholders to understand why a customer is classified as high-risk.</a:t>
            </a:r>
          </a:p>
          <a:p>
            <a:pPr lvl="0"/>
            <a:r>
              <a:rPr lang="en-IN" sz="2400" dirty="0"/>
              <a:t>Generic Offers: Standard retention strategies are often untargeted and fail to address specific customer profiles and company policies effectively.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Data Streaming: Simulated live customer telemetry data using Apache Kafka (Producer/Consumer architecture).</a:t>
            </a:r>
          </a:p>
          <a:p>
            <a:pPr lvl="0"/>
            <a:r>
              <a:rPr lang="en-IN" sz="2400" dirty="0"/>
              <a:t>Machine Learning Pipeline: Trained an </a:t>
            </a:r>
            <a:r>
              <a:rPr lang="en-IN" sz="2400" dirty="0" err="1"/>
              <a:t>XGBoost</a:t>
            </a:r>
            <a:r>
              <a:rPr lang="en-IN" sz="2400" dirty="0"/>
              <a:t> classifier integrated with preprocessing steps, achieving a high ROC-AUC score.</a:t>
            </a:r>
          </a:p>
          <a:p>
            <a:pPr lvl="0"/>
            <a:r>
              <a:rPr lang="en-IN" sz="2400" dirty="0"/>
              <a:t>Explainable AI (XAI): Implemented SHAP and Partial Dependence Plots (PDP) to decode feature impacts on churn probabilities.</a:t>
            </a:r>
          </a:p>
          <a:p>
            <a:pPr lvl="0"/>
            <a:r>
              <a:rPr lang="en-IN" sz="2400" dirty="0"/>
              <a:t>RAG Integration: Utilized a local </a:t>
            </a:r>
            <a:r>
              <a:rPr lang="en-IN" sz="2400" dirty="0" err="1"/>
              <a:t>ChromaDB</a:t>
            </a:r>
            <a:r>
              <a:rPr lang="en-IN" sz="2400" dirty="0"/>
              <a:t> vector store and Llama 3 (via </a:t>
            </a:r>
            <a:r>
              <a:rPr lang="en-IN" sz="2400" dirty="0" err="1"/>
              <a:t>Ollama</a:t>
            </a:r>
            <a:r>
              <a:rPr lang="en-IN" sz="2400" dirty="0"/>
              <a:t>) to generate context-aware retention offers based on enterprise policies.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Algorithms: </a:t>
            </a:r>
            <a:r>
              <a:rPr lang="en-IN" sz="2400" dirty="0" err="1"/>
              <a:t>XGBoost</a:t>
            </a:r>
            <a:r>
              <a:rPr lang="en-IN" sz="2400" dirty="0"/>
              <a:t> Classifier, </a:t>
            </a:r>
            <a:r>
              <a:rPr lang="en-IN" sz="2400" dirty="0" err="1"/>
              <a:t>MiniBatchKMeans</a:t>
            </a:r>
            <a:r>
              <a:rPr lang="en-IN" sz="2400" dirty="0"/>
              <a:t> (for real-time clustering/segmentation).</a:t>
            </a:r>
          </a:p>
          <a:p>
            <a:pPr lvl="0"/>
            <a:r>
              <a:rPr lang="en-IN" sz="2400" dirty="0"/>
              <a:t>XAI Techniques: SHAP (</a:t>
            </a:r>
            <a:r>
              <a:rPr lang="en-IN" sz="2400" dirty="0" err="1"/>
              <a:t>SHapley</a:t>
            </a:r>
            <a:r>
              <a:rPr lang="en-IN" sz="2400" dirty="0"/>
              <a:t> Additive </a:t>
            </a:r>
            <a:r>
              <a:rPr lang="en-IN" sz="2400" dirty="0" err="1"/>
              <a:t>exPlanations</a:t>
            </a:r>
            <a:r>
              <a:rPr lang="en-IN" sz="2400" dirty="0"/>
              <a:t>), PDP.</a:t>
            </a:r>
          </a:p>
          <a:p>
            <a:pPr lvl="0"/>
            <a:r>
              <a:rPr lang="en-IN" sz="2400" dirty="0"/>
              <a:t>Data Streaming &amp; Deployment: Apache Kafka, Docker (for Kafka environment), </a:t>
            </a:r>
            <a:r>
              <a:rPr lang="en-IN" sz="2400" dirty="0" err="1"/>
              <a:t>FastAPI</a:t>
            </a:r>
            <a:r>
              <a:rPr lang="en-IN" sz="2400" dirty="0"/>
              <a:t> (backend).</a:t>
            </a:r>
          </a:p>
          <a:p>
            <a:pPr lvl="0"/>
            <a:r>
              <a:rPr lang="en-IN" sz="2400" dirty="0"/>
              <a:t>Generative AI &amp; DB: Llama 3 (</a:t>
            </a:r>
            <a:r>
              <a:rPr lang="en-IN" sz="2400" dirty="0" err="1"/>
              <a:t>Ollama</a:t>
            </a:r>
            <a:r>
              <a:rPr lang="en-IN" sz="2400" dirty="0"/>
              <a:t>), </a:t>
            </a:r>
            <a:r>
              <a:rPr lang="en-IN" sz="2400" dirty="0" err="1"/>
              <a:t>ChromaDB</a:t>
            </a:r>
            <a:r>
              <a:rPr lang="en-IN" sz="2400" dirty="0"/>
              <a:t> (Vector Database), Nomic-embed-text.</a:t>
            </a:r>
          </a:p>
          <a:p>
            <a:pPr lvl="0"/>
            <a:r>
              <a:rPr lang="en-IN" sz="2400" dirty="0"/>
              <a:t>Frontend: HTML/JS/CSS with Chart.js for live dashboarding.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Model Performance: The </a:t>
            </a:r>
            <a:r>
              <a:rPr lang="en-IN" sz="2400" dirty="0" err="1"/>
              <a:t>XGBoost</a:t>
            </a:r>
            <a:r>
              <a:rPr lang="en-IN" sz="2400" dirty="0"/>
              <a:t> pipeline successfully classifies churn with robust accuracy and ROC-AUC metrics.</a:t>
            </a:r>
          </a:p>
          <a:p>
            <a:pPr lvl="0"/>
            <a:r>
              <a:rPr lang="en-IN" sz="2400" dirty="0"/>
              <a:t>XAI Insights: SHAP analysis revealed that '</a:t>
            </a:r>
            <a:r>
              <a:rPr lang="en-IN" sz="2400" dirty="0" err="1"/>
              <a:t>MonthlyCharges</a:t>
            </a:r>
            <a:r>
              <a:rPr lang="en-IN" sz="2400" dirty="0"/>
              <a:t>' and 'Contract (Month-to-month)' are primary drivers of churn, while higher 'Tenure' reduces churn risk.</a:t>
            </a:r>
          </a:p>
          <a:p>
            <a:pPr lvl="0"/>
            <a:r>
              <a:rPr lang="en-IN" sz="2400" dirty="0"/>
              <a:t>Real-time Processing: Kafka consumer successfully processes live streams, evaluating churn probability dynamically.</a:t>
            </a:r>
          </a:p>
          <a:p>
            <a:pPr lvl="0"/>
            <a:r>
              <a:rPr lang="en-IN" sz="2400" dirty="0"/>
              <a:t>Generative Action: The RAG system accurately retrieves specific telecom policies and generates personalized, 1-2 sentence retention offers for high-risk customers in real-time.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IN" dirty="0"/>
              <a:t>Integration: Seamlessly connected the ML pipeline, Kafka stream, </a:t>
            </a:r>
            <a:r>
              <a:rPr lang="en-IN" dirty="0" err="1"/>
              <a:t>ChromaDB</a:t>
            </a:r>
            <a:r>
              <a:rPr lang="en-IN" dirty="0"/>
              <a:t>, and local LLM into a unified </a:t>
            </a:r>
            <a:r>
              <a:rPr lang="en-IN" dirty="0" err="1"/>
              <a:t>FastAPI</a:t>
            </a:r>
            <a:r>
              <a:rPr lang="en-IN" dirty="0"/>
              <a:t> backend.</a:t>
            </a:r>
          </a:p>
          <a:p>
            <a:pPr lvl="0"/>
            <a:r>
              <a:rPr lang="en-IN" dirty="0"/>
              <a:t>Dashboarding: Deployed a plain, business-style live dashboard utilizing Server-Sent Events (SSE) to display metrics, risk queues, and AI-generated offers.</a:t>
            </a:r>
          </a:p>
          <a:p>
            <a:pPr lvl="0"/>
            <a:r>
              <a:rPr lang="en-IN" dirty="0"/>
              <a:t>Strengths: Completely local execution ensures data privacy; real-time capability allows for immediate intervention.</a:t>
            </a:r>
          </a:p>
          <a:p>
            <a:pPr lvl="0"/>
            <a:r>
              <a:rPr lang="en-IN" dirty="0"/>
              <a:t>Limitations: High resource dependency (RAM/CPU) for running local LLMs and Kafka concurrently.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Deployment / Integration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Cloud Migration: Transitioning from a local environment to cloud-native services (e.g., </a:t>
            </a:r>
            <a:r>
              <a:rPr lang="en-IN" sz="2400" dirty="0" err="1"/>
              <a:t>Upstash</a:t>
            </a:r>
            <a:r>
              <a:rPr lang="en-IN" sz="2400" dirty="0"/>
              <a:t> Kafka, managed Vector DBs, and cloud LLM APIs) for better scalability.</a:t>
            </a:r>
          </a:p>
          <a:p>
            <a:pPr lvl="0"/>
            <a:r>
              <a:rPr lang="en-IN" sz="2400" dirty="0"/>
              <a:t>A/B Testing Integration: Implementing a feedback loop to track the success rate of the AI-generated retention offers.</a:t>
            </a:r>
          </a:p>
          <a:p>
            <a:pPr lvl="0"/>
            <a:r>
              <a:rPr lang="en-IN" sz="2400" dirty="0"/>
              <a:t>Omnichannel Deployment: Integrating the retention agent directly into CRM systems or customer service chatbots for automated outreach.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Future Work &amp; Scope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C5B4-E504-4ABA-979C-1F5F05F6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636D96-769E-AF53-0878-A4C371DFE6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The project successfully demonstrates the transition from static predictive </a:t>
            </a:r>
            <a:r>
              <a:rPr lang="en-IN" sz="2400" dirty="0" err="1"/>
              <a:t>modeling</a:t>
            </a:r>
            <a:r>
              <a:rPr lang="en-IN" sz="2400" dirty="0"/>
              <a:t> to an active, real-time, and explainable ML system.</a:t>
            </a:r>
          </a:p>
          <a:p>
            <a:pPr lvl="0"/>
            <a:r>
              <a:rPr lang="en-IN" sz="2400" dirty="0"/>
              <a:t>By combining the predictive power of </a:t>
            </a:r>
            <a:r>
              <a:rPr lang="en-IN" sz="2400" dirty="0" err="1"/>
              <a:t>XGBoost</a:t>
            </a:r>
            <a:r>
              <a:rPr lang="en-IN" sz="2400" dirty="0"/>
              <a:t> with the generative capabilities of Llama 3 and RAG, telecom providers can proactively identify and retain high-risk customers with targeted, policy-compliant actions.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60C74-B102-922A-553F-CED0E2BEDEE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98293F-324B-CEFD-BCB1-7961CAE6F88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FBCA03-B097-1315-5A4A-A066787DAE2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768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I would like to express my sincere gratitude to L&amp;T </a:t>
            </a:r>
            <a:r>
              <a:rPr lang="en-IN" sz="2400" dirty="0" err="1"/>
              <a:t>EduTech</a:t>
            </a:r>
            <a:r>
              <a:rPr lang="en-IN" sz="2400" dirty="0"/>
              <a:t> and </a:t>
            </a:r>
            <a:r>
              <a:rPr lang="en-IN" sz="2400" dirty="0" err="1"/>
              <a:t>LTIMindtree</a:t>
            </a:r>
            <a:r>
              <a:rPr lang="en-IN" sz="2400" dirty="0"/>
              <a:t> for providing the industry-integrated platform and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Chen, T., &amp; </a:t>
            </a:r>
            <a:r>
              <a:rPr lang="en-IN" sz="2400" dirty="0" err="1"/>
              <a:t>Guestrin</a:t>
            </a:r>
            <a:r>
              <a:rPr lang="en-IN" sz="2400" dirty="0"/>
              <a:t>, C. (2016). </a:t>
            </a:r>
            <a:r>
              <a:rPr lang="en-IN" sz="2400" dirty="0" err="1"/>
              <a:t>XGBoost</a:t>
            </a:r>
            <a:r>
              <a:rPr lang="en-IN" sz="2400" dirty="0"/>
              <a:t>: A Scalable Tree Boosting System.</a:t>
            </a:r>
          </a:p>
          <a:p>
            <a:pPr lvl="0"/>
            <a:r>
              <a:rPr lang="en-IN" sz="2400" dirty="0"/>
              <a:t>Lundberg, S. M., &amp; Lee, S.-I. (2017). A Unified Approach to Interpreting Model Predictions (SHAP).</a:t>
            </a:r>
          </a:p>
          <a:p>
            <a:pPr lvl="0"/>
            <a:r>
              <a:rPr lang="en-IN" sz="2400" dirty="0"/>
              <a:t>Lewis, P., et al. (2020). Retrieval-Augmented Generation for Knowledge-Intensive NLP Tasks.</a:t>
            </a:r>
          </a:p>
          <a:p>
            <a:pPr lvl="0"/>
            <a:r>
              <a:rPr lang="en-IN" sz="2400" dirty="0"/>
              <a:t>Apache Kafka Documentation: </a:t>
            </a:r>
            <a:r>
              <a:rPr lang="en-IN" sz="2400" dirty="0">
                <a:hlinkClick r:id="rId2"/>
              </a:rPr>
              <a:t>https://kafka.apache.org/documentation/</a:t>
            </a:r>
            <a:endParaRPr lang="en-IN" sz="2400" dirty="0"/>
          </a:p>
          <a:p>
            <a:pPr lvl="0"/>
            <a:r>
              <a:rPr lang="en-IN" sz="2400" dirty="0" err="1"/>
              <a:t>ChromaDB</a:t>
            </a:r>
            <a:r>
              <a:rPr lang="en-IN" sz="2400" dirty="0"/>
              <a:t> Documentation: </a:t>
            </a:r>
            <a:r>
              <a:rPr lang="en-IN" sz="2400" dirty="0">
                <a:hlinkClick r:id="rId3"/>
              </a:rPr>
              <a:t>https://docs.trychroma.com/</a:t>
            </a: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874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Swapnadeep Das</cp:lastModifiedBy>
  <cp:revision>15</cp:revision>
  <dcterms:created xsi:type="dcterms:W3CDTF">2024-05-13T10:33:11Z</dcterms:created>
  <dcterms:modified xsi:type="dcterms:W3CDTF">2026-10-07T15:08:19Z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