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147470489" r:id="rId2"/>
    <p:sldId id="2147470492" r:id="rId3"/>
    <p:sldId id="2147470493" r:id="rId4"/>
    <p:sldId id="2147470494" r:id="rId5"/>
    <p:sldId id="2147470495" r:id="rId6"/>
    <p:sldId id="2147470496" r:id="rId7"/>
    <p:sldId id="2147470497" r:id="rId8"/>
    <p:sldId id="2147470491" r:id="rId9"/>
    <p:sldId id="214747048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5B9ED"/>
    <a:srgbClr val="47BDAE"/>
    <a:srgbClr val="30BBDA"/>
    <a:srgbClr val="47BDAF"/>
    <a:srgbClr val="696969"/>
    <a:srgbClr val="1C4D98"/>
    <a:srgbClr val="8BC431"/>
    <a:srgbClr val="97B6BA"/>
    <a:srgbClr val="24A8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6" d="100"/>
          <a:sy n="56" d="100"/>
        </p:scale>
        <p:origin x="43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3F4D17B-9B25-2D63-E389-71163BD2C8E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FC4ED1-FB42-4A6C-B292-B8C58946A8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35A630-145D-4232-9865-98341E30F7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708363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837F2-3C53-43E6-9F25-242D13C5A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2C3C5-9B28-493B-9422-74FF4AE180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70436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9B68FAD-9CFA-CBF0-4B37-9944C2E932A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D4B6E2-CC70-4366-ABC8-87480CC35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0D34EE-ED80-45A7-B964-53ED80D94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3036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3BCD6-D227-4C30-8364-6F161FA12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C3054-5604-4679-AF7D-07BF06BE01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47BA85-32D5-4EA3-9F8B-5A8B92517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96123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F33A1-3BE5-4F1B-8E70-082254902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C4CAE0-72F2-4F22-A85A-772E3DA04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DE67E9-F76F-4049-98D4-82E9E7C800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332A94-E906-4159-9FE4-E63CFAE0BE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16D1AA-A642-4FEB-91F0-3F506A2AE8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39363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BF108-6EC2-4592-9D33-716E6B1A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26736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7387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2AB71-FC15-4C88-A99B-0D66CDCEE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69B3E-A4BB-45D7-ABB7-1E151F04F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FD4C72-B215-468A-8722-23007428B0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94330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42731-906B-40B4-86D3-CD7878598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1042F1-26FD-477E-A079-62384AA43E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52E8FE-8F89-4D08-8341-786A0381B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8541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B0375-D926-48D9-8605-813B1B64E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8D7657-21CC-45AA-A2CE-92653962FC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9364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A09EBA-4206-40BF-81B1-742CF8BD5B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B8BE7B-6EB1-4B41-A25B-B41833E5B2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1384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5996" y="1271219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06C9D6B8-9A00-34FD-3E41-E67F07F278E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5996" y="629525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36477356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3803" y="469835"/>
            <a:ext cx="11672300" cy="650048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24435425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Relationship Id="rId16" Type="http://schemas.openxmlformats.org/officeDocument/2006/relationships/image" Target="../media/image2.png"/><Relationship Id="rId17" Type="http://schemas.microsoft.com/office/2007/relationships/hdphoto" Target="../media/hdphoto1.wdp"/><Relationship Id="rId18" Type="http://schemas.openxmlformats.org/officeDocument/2006/relationships/image" Target="../media/image3.png"/><Relationship Id="rId19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2D087FE-85BE-5152-9EB5-3B57AE38DD48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337544"/>
            <a:ext cx="12191994" cy="154830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EFA70D2-ADBF-0DD4-D7D1-F37201867E99}"/>
              </a:ext>
            </a:extLst>
          </p:cNvPr>
          <p:cNvSpPr/>
          <p:nvPr userDrawn="1"/>
        </p:nvSpPr>
        <p:spPr>
          <a:xfrm>
            <a:off x="0" y="0"/>
            <a:ext cx="12192000" cy="365125"/>
          </a:xfrm>
          <a:prstGeom prst="rect">
            <a:avLst/>
          </a:prstGeom>
          <a:gradFill>
            <a:gsLst>
              <a:gs pos="5000">
                <a:srgbClr val="47BDAE"/>
              </a:gs>
              <a:gs pos="59000">
                <a:srgbClr val="25B9ED"/>
              </a:gs>
              <a:gs pos="100000">
                <a:srgbClr val="FFFF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2000" b="1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C08DB-FBED-4A43-AE4B-B2CE371FE6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271" y="1191757"/>
            <a:ext cx="11004446" cy="4795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028" name="Picture 4" descr="LTIMindtree logo in transparent PNG and vectorized SVG formats">
            <a:extLst>
              <a:ext uri="{FF2B5EF4-FFF2-40B4-BE49-F238E27FC236}">
                <a16:creationId xmlns:a16="http://schemas.microsoft.com/office/drawing/2014/main" id="{21F70453-17DB-04F6-290A-DCDEF9FDE02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saturation sat="400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5387" y="6562429"/>
            <a:ext cx="1541059" cy="295571"/>
          </a:xfrm>
          <a:prstGeom prst="rect">
            <a:avLst/>
          </a:prstGeom>
          <a:noFill/>
        </p:spPr>
      </p:pic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DBDE3A73-7407-B3B5-0BC2-D13C973D143A}"/>
              </a:ext>
            </a:extLst>
          </p:cNvPr>
          <p:cNvSpPr txBox="1">
            <a:spLocks/>
          </p:cNvSpPr>
          <p:nvPr userDrawn="1"/>
        </p:nvSpPr>
        <p:spPr>
          <a:xfrm>
            <a:off x="221274" y="88514"/>
            <a:ext cx="8176583" cy="1103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70A0B4C8-C250-76C3-01DB-D728F6B32656}"/>
              </a:ext>
            </a:extLst>
          </p:cNvPr>
          <p:cNvSpPr txBox="1">
            <a:spLocks/>
          </p:cNvSpPr>
          <p:nvPr userDrawn="1"/>
        </p:nvSpPr>
        <p:spPr>
          <a:xfrm>
            <a:off x="391411" y="640135"/>
            <a:ext cx="11290305" cy="5237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Calibri (Body)"/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49D7A90-F0A3-C216-D67E-9B86D1BECDF5}"/>
              </a:ext>
            </a:extLst>
          </p:cNvPr>
          <p:cNvSpPr txBox="1">
            <a:spLocks/>
          </p:cNvSpPr>
          <p:nvPr userDrawn="1"/>
        </p:nvSpPr>
        <p:spPr>
          <a:xfrm>
            <a:off x="158720" y="413891"/>
            <a:ext cx="10025576" cy="68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3075D7-F006-A81F-68F1-A5F218FAF004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554" y="6358271"/>
            <a:ext cx="964436" cy="411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482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microsoft.com/office/2007/relationships/hdphoto" Target="../media/hdphoto3.wdp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8D30BC0-07A3-DCDA-0D0B-DD40C2178A62}"/>
              </a:ext>
            </a:extLst>
          </p:cNvPr>
          <p:cNvSpPr/>
          <p:nvPr/>
        </p:nvSpPr>
        <p:spPr>
          <a:xfrm>
            <a:off x="-31269" y="29737"/>
            <a:ext cx="12254538" cy="6868389"/>
          </a:xfrm>
          <a:prstGeom prst="rect">
            <a:avLst/>
          </a:prstGeom>
          <a:gradFill>
            <a:gsLst>
              <a:gs pos="0">
                <a:srgbClr val="47BDAF"/>
              </a:gs>
              <a:gs pos="100000">
                <a:srgbClr val="3793A6"/>
              </a:gs>
              <a:gs pos="39000">
                <a:srgbClr val="1C4D98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LT Pro 45 Light" panose="020B0403030504020204" pitchFamily="34" charset="0"/>
              <a:ea typeface="+mn-ea"/>
              <a:cs typeface="+mn-cs"/>
            </a:endParaRP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0741E81D-922F-23FE-07A9-320FA2B27E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89635" y="17705"/>
            <a:ext cx="6910121" cy="1058125"/>
          </a:xfrm>
        </p:spPr>
        <p:txBody>
          <a:bodyPr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</a:rPr>
              <a:t>M.Tech Program </a:t>
            </a:r>
          </a:p>
          <a:p>
            <a:pPr marL="0" indent="0" algn="ctr">
              <a:buNone/>
            </a:pPr>
            <a:r>
              <a:rPr lang="en-US" sz="2000" dirty="0">
                <a:solidFill>
                  <a:schemeClr val="bg1"/>
                </a:solidFill>
              </a:rPr>
              <a:t>Advanced Industry Integrated Programs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D19DFA2-C55E-F4D5-C53A-B5ECEB442DC1}"/>
              </a:ext>
            </a:extLst>
          </p:cNvPr>
          <p:cNvCxnSpPr/>
          <p:nvPr/>
        </p:nvCxnSpPr>
        <p:spPr>
          <a:xfrm>
            <a:off x="2977350" y="1120307"/>
            <a:ext cx="5866228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1AA452C-B3E6-7A79-FD46-04E813851A85}"/>
              </a:ext>
            </a:extLst>
          </p:cNvPr>
          <p:cNvSpPr/>
          <p:nvPr/>
        </p:nvSpPr>
        <p:spPr>
          <a:xfrm>
            <a:off x="4125951" y="1177578"/>
            <a:ext cx="3033131" cy="28603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Frutiger 45 bold"/>
                <a:ea typeface="+mn-ea"/>
                <a:cs typeface="Calibri" panose="020F0502020204030204" pitchFamily="34" charset="0"/>
              </a:rPr>
              <a:t>Jointly offered by University and LTIMindTree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8A8852-79FE-2D69-0530-D7712358063B}"/>
              </a:ext>
            </a:extLst>
          </p:cNvPr>
          <p:cNvSpPr txBox="1"/>
          <p:nvPr/>
        </p:nvSpPr>
        <p:spPr>
          <a:xfrm>
            <a:off x="180236" y="1659822"/>
            <a:ext cx="11428184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  <a:p>
            <a:r>
              <a:t>Real-Time Streaming Customer Retention Platform</a:t>
            </a:r>
          </a:p>
          <a:p>
            <a:r>
              <a:t>
Team Member: Swapnadeep Das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E7F5D19-19F4-F87F-17C2-8520612BCFEC}"/>
              </a:ext>
            </a:extLst>
          </p:cNvPr>
          <p:cNvGraphicFramePr>
            <a:graphicFrameLocks noGrp="1"/>
          </p:cNvGraphicFramePr>
          <p:nvPr/>
        </p:nvGraphicFramePr>
        <p:xfrm>
          <a:off x="-47290" y="5501244"/>
          <a:ext cx="12239216" cy="32648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19608">
                  <a:extLst>
                    <a:ext uri="{9D8B030D-6E8A-4147-A177-3AD203B41FA5}">
                      <a16:colId xmlns:a16="http://schemas.microsoft.com/office/drawing/2014/main" val="586572480"/>
                    </a:ext>
                  </a:extLst>
                </a:gridCol>
                <a:gridCol w="6119608">
                  <a:extLst>
                    <a:ext uri="{9D8B030D-6E8A-4147-A177-3AD203B41FA5}">
                      <a16:colId xmlns:a16="http://schemas.microsoft.com/office/drawing/2014/main" val="157907922"/>
                    </a:ext>
                  </a:extLst>
                </a:gridCol>
              </a:tblGrid>
              <a:tr h="15274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Knowledge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                                                                     Implementation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3668230"/>
                  </a:ext>
                </a:extLst>
              </a:tr>
              <a:tr h="1184198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6626376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2715C658-0B94-5B63-55F1-B9B6F645F0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5332" y="5852667"/>
            <a:ext cx="1987468" cy="847417"/>
          </a:xfrm>
          <a:prstGeom prst="rect">
            <a:avLst/>
          </a:prstGeom>
        </p:spPr>
      </p:pic>
      <p:pic>
        <p:nvPicPr>
          <p:cNvPr id="9" name="Picture 2" descr="LTIMindtree - Technology Consulting and Digital Solutions Company">
            <a:extLst>
              <a:ext uri="{FF2B5EF4-FFF2-40B4-BE49-F238E27FC236}">
                <a16:creationId xmlns:a16="http://schemas.microsoft.com/office/drawing/2014/main" id="{B3D78849-E5F7-1DB2-227F-1424458612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852667"/>
            <a:ext cx="3886489" cy="864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9507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18EFD-13D1-118F-A8E4-F9E2D3695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7726612-73E0-5A94-F635-3A742DD5BA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r>
              <a:t>• The telecommunications industry faces high customer churn rates.</a:t>
            </a:r>
          </a:p>
          <a:p>
            <a:r>
              <a:t>• Traditional batch-processing models fail to prevent churn as they are not real-time.</a:t>
            </a:r>
          </a:p>
          <a:p>
            <a:r>
              <a:t>• This project implements a real-time event-driven machine learning pipeline.</a:t>
            </a:r>
          </a:p>
          <a:p>
            <a:r>
              <a:t>• Evaluates customer risk dynamically using live streaming data and predictive models.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4E3812-AF2F-9DD8-6ECF-C3425146B38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Introduction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295426A-3395-FE92-30C7-C8A6AC62DE62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D91B1D4-191E-E882-BD37-9FBAED57B57F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Real-Time Streaming Customer Retention Platform - 06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2088180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1235D-73A1-0B84-0745-6B97432CB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4D551BF-43EB-C049-6D3B-4D17D57752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r>
              <a:t>• Develop an XGBoost machine learning model to predict customer churn probability.</a:t>
            </a:r>
          </a:p>
          <a:p>
            <a:r>
              <a:t>• Implement Apache Kafka for real-time data ingestion and processing.</a:t>
            </a:r>
          </a:p>
          <a:p>
            <a:r>
              <a:t>• Apply Mini-Batch K-Means for dynamic online clustering of customer behavior.</a:t>
            </a:r>
          </a:p>
          <a:p>
            <a:r>
              <a:t>• Create a local, secure infrastructure bypassing traditional corporate firewall limitations.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FF40D3-B05A-88C3-591F-882A93FC9918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Objective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740D4D-2363-70E1-0E6E-1BDDA8C33C8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4452DD5-D934-4955-F39B-2109AC72692F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Real-Time Streaming Customer Retention Platform - 06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17394505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2D7CD-C158-6FC1-06C7-09444D2DE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325C8EF-A5DD-AB22-0372-51B9ABE635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r>
              <a:t>• In Scope:</a:t>
            </a:r>
          </a:p>
          <a:p>
            <a:r>
              <a:t>  - Training ML models on the IBM Telco Churn dataset.</a:t>
            </a:r>
          </a:p>
          <a:p>
            <a:r>
              <a:t>  - Containerized deployment using Docker and WSL2 on Windows 11.</a:t>
            </a:r>
          </a:p>
          <a:p>
            <a:r>
              <a:t>  - Real-time Kafka producer and consumer scripts.</a:t>
            </a:r>
          </a:p>
          <a:p/>
          <a:p>
            <a:r>
              <a:t>• Out of Scope:</a:t>
            </a:r>
          </a:p>
          <a:p>
            <a:r>
              <a:t>  - The RAG Integration (Phase 3) is planned for the next review.</a:t>
            </a:r>
          </a:p>
          <a:p>
            <a:r>
              <a:t>  - Frontend dashboard implementation.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15F4B8-EED0-F7BE-96C7-D7AAE989A25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Scope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A882B44-FCE4-BF93-E951-46CF2238FB7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CE164B1-01DD-BF3B-88E8-DF2DEDBFA9EB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Real-Time Streaming Customer Retention Platform - 06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20346819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69C03-8E92-54D7-6EE2-33DC2B5C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B433ECB-8EAD-0AB5-1D66-62BCF658AA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r>
              <a:t>• Advanced ML models, specifically XGBoost, outperform traditional techniques (Decision Trees) for churn prediction by handling non-linear relationships and class imbalances.</a:t>
            </a:r>
          </a:p>
          <a:p>
            <a:r>
              <a:t>• A 2025 study demonstrated XGBoost achieving up to 95% accuracy when dealing with structured telecom datasets.</a:t>
            </a:r>
          </a:p>
          <a:p>
            <a:r>
              <a:t>• Real-world implementation challenges include "cold-start" clustering issues, which necessitate warm-starting algorithms like Mini-Batch K-Means on baseline historical data before processing live streams.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B3663C-4C71-EB2A-170D-22878BAC4C68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Literature Review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91B76A7-3EE1-470C-EBA7-8F98E8FFE105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84F4041-8131-3536-FDDF-513CA3ABA637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Real-Time Streaming Customer Retention Platform - 06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8607650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53C69-472F-A80F-ECBC-553E043DB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364AF3A-1BAA-BB19-865F-8604C4E3B8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r>
              <a:t>• The consensus in current research emphasizes transitioning from static batch analysis to real-time predictive analytics.</a:t>
            </a:r>
          </a:p>
          <a:p>
            <a:r>
              <a:t>• Utilizing techniques like SMOTE or 'scale_pos_weight' is critical in XGBoost to address minority class imbalances (e.g., actual churners).</a:t>
            </a:r>
          </a:p>
          <a:p>
            <a:r>
              <a:t>• Integrating message brokers (Kafka) with ML inference is the industry standard for minimizing latency between event occurrence and retention intervention.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C2521A-B8A4-7818-FEB4-0309182DBEC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Summary of Literature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6871527-EAED-D60A-DB4D-12A2CE4201DE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EADF6DB-6CFE-DDC5-997C-E84EE1A9470D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Real-Time Streaming Customer Retention Platform - 06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40847033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0F88864-2E71-2992-AD53-E894883727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r>
              <a:t>• Environment: Virtual Environment (venv) active; Docker KRaft cluster running locally.</a:t>
            </a:r>
          </a:p>
          <a:p>
            <a:r>
              <a:t>• Phase 1: IBM Telco Data cleaned; XGBoost pipeline trained (ROC-AUC: 0.8113).</a:t>
            </a:r>
          </a:p>
          <a:p>
            <a:r>
              <a:t>• Phase 2: Kafka Producer successfully simulating live telecom data streams.</a:t>
            </a:r>
          </a:p>
          <a:p>
            <a:r>
              <a:t>• Phase 2: Kafka Consumer successfully reading the stream, predicting churn probabilities in sub-second time, and triggering high-risk alerts.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Current Progress (Phase 1 &amp; 2 Completed)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Real-Time Streaming Customer Retention Platform - 06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4291B-7EDA-4E3D-40F5-03FDC22C33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r>
              <a:t>Module 1: Exploratory Data Analysis &amp; Offline Model Training</a:t>
            </a:r>
          </a:p>
          <a:p>
            <a:r>
              <a:t>Module 2: Real-Time Event-Driven Streaming Architecture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Modules Completed for Review 1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5CD5B67-3503-60B5-8469-F3C3191D84D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D4A0452-2CB8-E4C6-FAC7-ECD109C50CE1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Real-Time Streaming Customer Retention Platform - 06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1187364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4291B-7EDA-4E3D-40F5-03FDC22C33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Subtopic - Model Training &amp; Validation</a:t>
            </a:r>
          </a:p>
          <a:p>
            <a:r>
              <a:t>• Cleaned 7,043 records, dropping corrupt values.</a:t>
            </a:r>
          </a:p>
          <a:p>
            <a:r>
              <a:t>• Applied `scale_pos_weight` to handle 73/26 target imbalance.</a:t>
            </a:r>
          </a:p>
          <a:p>
            <a:r>
              <a:t>• Serialized preprocessing and prediction into a single joblib pipeline.</a:t>
            </a:r>
          </a:p>
          <a:p/>
          <a:p>
            <a:r>
              <a:t>Subtopic - Streaming Integration</a:t>
            </a:r>
          </a:p>
          <a:p>
            <a:r>
              <a:t>• Configured official apache/kafka:latest via docker-compose.</a:t>
            </a:r>
          </a:p>
          <a:p>
            <a:r>
              <a:t>• Implemented warm-started MiniBatchKMeans to prevent initialization crashes during stream consumption.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Module 1 &amp; 2 Execution Details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F77F89-4F98-73F2-FD5A-5DD416A6F12F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5221164-7940-3B34-A613-28A74A63E0F7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Real-Time Streaming Customer Retention Platform - 06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33775862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223</TotalTime>
  <Words>171</Words>
  <Application>Microsoft Office PowerPoint</Application>
  <PresentationFormat>Widescreen</PresentationFormat>
  <Paragraphs>40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Arial</vt:lpstr>
      <vt:lpstr>Calibri</vt:lpstr>
      <vt:lpstr>Calibri (Body)</vt:lpstr>
      <vt:lpstr>Calibri Light</vt:lpstr>
      <vt:lpstr>Frutiger 45 bold</vt:lpstr>
      <vt:lpstr>Frutiger LT Pro 45 Light</vt:lpstr>
      <vt:lpstr>source-serif-pro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HARI PRASATH</dc:creator>
  <cp:lastModifiedBy>HARI PRASATH</cp:lastModifiedBy>
  <cp:revision>10</cp:revision>
  <dcterms:created xsi:type="dcterms:W3CDTF">2024-05-13T10:33:11Z</dcterms:created>
  <dcterms:modified xsi:type="dcterms:W3CDTF">2025-08-25T08:33:47Z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c52bb50-aef2-4dc8-bb7f-e0da22648362_Enabled">
    <vt:lpwstr>true</vt:lpwstr>
  </property>
  <property fmtid="{D5CDD505-2E9C-101B-9397-08002B2CF9AE}" pid="3" name="MSIP_Label_ac52bb50-aef2-4dc8-bb7f-e0da22648362_SetDate">
    <vt:lpwstr>2025-08-25T08:11:33Z</vt:lpwstr>
  </property>
  <property fmtid="{D5CDD505-2E9C-101B-9397-08002B2CF9AE}" pid="4" name="MSIP_Label_ac52bb50-aef2-4dc8-bb7f-e0da22648362_Method">
    <vt:lpwstr>Standard</vt:lpwstr>
  </property>
  <property fmtid="{D5CDD505-2E9C-101B-9397-08002B2CF9AE}" pid="5" name="MSIP_Label_ac52bb50-aef2-4dc8-bb7f-e0da22648362_Name">
    <vt:lpwstr>ac52bb50-aef2-4dc8-bb7f-e0da22648362</vt:lpwstr>
  </property>
  <property fmtid="{D5CDD505-2E9C-101B-9397-08002B2CF9AE}" pid="6" name="MSIP_Label_ac52bb50-aef2-4dc8-bb7f-e0da22648362_SiteId">
    <vt:lpwstr>264b9899-fe1b-430b-9509-2154878d5774</vt:lpwstr>
  </property>
  <property fmtid="{D5CDD505-2E9C-101B-9397-08002B2CF9AE}" pid="7" name="MSIP_Label_ac52bb50-aef2-4dc8-bb7f-e0da22648362_ActionId">
    <vt:lpwstr>5a5317b9-6049-4f38-9ea6-5786aca62bc4</vt:lpwstr>
  </property>
  <property fmtid="{D5CDD505-2E9C-101B-9397-08002B2CF9AE}" pid="8" name="MSIP_Label_ac52bb50-aef2-4dc8-bb7f-e0da22648362_ContentBits">
    <vt:lpwstr>2</vt:lpwstr>
  </property>
  <property fmtid="{D5CDD505-2E9C-101B-9397-08002B2CF9AE}" pid="9" name="MSIP_Label_ac52bb50-aef2-4dc8-bb7f-e0da22648362_Tag">
    <vt:lpwstr>10, 3, 0, 1</vt:lpwstr>
  </property>
  <property fmtid="{D5CDD505-2E9C-101B-9397-08002B2CF9AE}" pid="10" name="ClassificationContentMarkingFooterLocations">
    <vt:lpwstr>1_Office Theme:8</vt:lpwstr>
  </property>
  <property fmtid="{D5CDD505-2E9C-101B-9397-08002B2CF9AE}" pid="11" name="ClassificationContentMarkingFooterText">
    <vt:lpwstr>Sensitivity: LNT Construction Internal Use</vt:lpwstr>
  </property>
</Properties>
</file>