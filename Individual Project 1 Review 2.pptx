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7" r:id="rId5"/>
    <p:sldId id="2147470494" r:id="rId6"/>
    <p:sldId id="2147470498" r:id="rId7"/>
    <p:sldId id="2147470499" r:id="rId8"/>
    <p:sldId id="2147470487" r:id="rId9"/>
    <p:sldId id="21474705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Hybrid Predictive-Generative Customer Retention: Integrating Tabular Churn Prediction with RAG-Powered Knowledge Retrieval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Swapnadeep Das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Customer Churn poses a severe revenue threat to the telecom industry.</a:t>
            </a:r>
          </a:p>
          <a:p>
            <a:pPr lvl="0"/>
            <a:r>
              <a:rPr lang="en-IN" sz="2400" dirty="0"/>
              <a:t>Traditional batch-processing models fail to provide real-time intervention opportunities.</a:t>
            </a:r>
          </a:p>
          <a:p>
            <a:pPr lvl="0"/>
            <a:r>
              <a:rPr lang="en-IN" sz="2400" dirty="0"/>
              <a:t>This project introduces an event-driven streaming architecture.</a:t>
            </a:r>
          </a:p>
          <a:p>
            <a:pPr lvl="0"/>
            <a:r>
              <a:rPr lang="en-IN" sz="2400" dirty="0"/>
              <a:t>It predicts churn on live telemetry data and uses Generative AI (Retrieval-Augmented Generation) to draft instant, policy-compliant retention offers.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Live Data Ingestion: </a:t>
            </a:r>
            <a:r>
              <a:rPr lang="en-IN" sz="2400" b="0" dirty="0"/>
              <a:t>Stream telecom telemetry using Apache Kafka.</a:t>
            </a:r>
          </a:p>
          <a:p>
            <a:pPr lvl="0"/>
            <a:r>
              <a:rPr lang="en-IN" sz="2400" dirty="0"/>
              <a:t>Real-time ML Inference: </a:t>
            </a:r>
            <a:r>
              <a:rPr lang="en-IN" sz="2400" b="0" dirty="0"/>
              <a:t>Predict churn probability and cluster customers dynamically.</a:t>
            </a:r>
          </a:p>
          <a:p>
            <a:pPr lvl="0"/>
            <a:r>
              <a:rPr lang="en-IN" sz="2400" dirty="0"/>
              <a:t>GenAI Intervention: </a:t>
            </a:r>
            <a:r>
              <a:rPr lang="en-IN" sz="2400" b="0" dirty="0"/>
              <a:t>Automate retention offer generation using local Llama 3 and </a:t>
            </a:r>
            <a:r>
              <a:rPr lang="en-IN" sz="2400" b="0" dirty="0" err="1"/>
              <a:t>ChromaDB</a:t>
            </a:r>
            <a:r>
              <a:rPr lang="en-IN" sz="2400" b="0" dirty="0"/>
              <a:t>.</a:t>
            </a:r>
          </a:p>
          <a:p>
            <a:pPr lvl="0"/>
            <a:r>
              <a:rPr lang="en-IN" sz="2400" dirty="0"/>
              <a:t>Zero-Latency UI: </a:t>
            </a:r>
            <a:r>
              <a:rPr lang="en-IN" sz="2400" b="0" dirty="0"/>
              <a:t>Build an asynchronous </a:t>
            </a:r>
            <a:r>
              <a:rPr lang="en-IN" sz="2400" b="0" dirty="0" err="1"/>
              <a:t>FastAPI</a:t>
            </a:r>
            <a:r>
              <a:rPr lang="en-IN" sz="2400" b="0" dirty="0"/>
              <a:t> dashboard to visualize insights without UI freezing.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Data Cleaning: </a:t>
            </a:r>
            <a:r>
              <a:rPr lang="en-IN" sz="2400" b="0" dirty="0"/>
              <a:t>Resolved hidden whitespace issues in the '</a:t>
            </a:r>
            <a:r>
              <a:rPr lang="en-IN" sz="2400" b="0" dirty="0" err="1"/>
              <a:t>TotalCharges</a:t>
            </a:r>
            <a:r>
              <a:rPr lang="en-IN" sz="2400" b="0" dirty="0"/>
              <a:t>' feature and enforced numeric conversion.</a:t>
            </a:r>
          </a:p>
          <a:p>
            <a:pPr lvl="0"/>
            <a:r>
              <a:rPr lang="en-IN" sz="2400" dirty="0"/>
              <a:t>Class Imbalance: </a:t>
            </a:r>
            <a:r>
              <a:rPr lang="en-IN" sz="2400" b="0" dirty="0"/>
              <a:t>Identified churn distribution (~73% Retained, ~27% Churned), requiring algorithmic weighting.</a:t>
            </a:r>
          </a:p>
          <a:p>
            <a:pPr lvl="0"/>
            <a:r>
              <a:rPr lang="en-IN" sz="2400" dirty="0"/>
              <a:t>Feature Engineering: </a:t>
            </a:r>
            <a:r>
              <a:rPr lang="en-IN" sz="2400" b="0" dirty="0"/>
              <a:t>Segregated numeric ('tenure', '</a:t>
            </a:r>
            <a:r>
              <a:rPr lang="en-IN" sz="2400" b="0" dirty="0" err="1"/>
              <a:t>MonthlyCharges</a:t>
            </a:r>
            <a:r>
              <a:rPr lang="en-IN" sz="2400" b="0" dirty="0"/>
              <a:t>') and categorical features.</a:t>
            </a:r>
          </a:p>
          <a:p>
            <a:pPr lvl="0"/>
            <a:r>
              <a:rPr lang="en-IN" sz="2400" dirty="0"/>
              <a:t>Pipeline Setup: </a:t>
            </a:r>
            <a:r>
              <a:rPr lang="en-IN" sz="2400" b="0" dirty="0"/>
              <a:t>Applied </a:t>
            </a:r>
            <a:r>
              <a:rPr lang="en-IN" b="0" dirty="0"/>
              <a:t>StandardScaler</a:t>
            </a:r>
            <a:r>
              <a:rPr lang="en-IN" sz="2400" b="0" dirty="0"/>
              <a:t> and </a:t>
            </a:r>
            <a:r>
              <a:rPr lang="en-IN" b="0" dirty="0"/>
              <a:t>OneHotEncoder</a:t>
            </a:r>
            <a:r>
              <a:rPr lang="en-IN" sz="2400" b="0" dirty="0"/>
              <a:t> via scikit-</a:t>
            </a:r>
            <a:r>
              <a:rPr lang="en-IN" sz="2400" b="0" dirty="0" err="1"/>
              <a:t>learn's</a:t>
            </a:r>
            <a:r>
              <a:rPr lang="en-IN" sz="2400" b="0" dirty="0"/>
              <a:t> </a:t>
            </a:r>
            <a:r>
              <a:rPr lang="en-IN" b="0" dirty="0"/>
              <a:t>ColumnTransformer</a:t>
            </a:r>
            <a:r>
              <a:rPr lang="en-IN" sz="2400" b="0" dirty="0"/>
              <a:t> for streamlined preprocessing.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 err="1"/>
              <a:t>XGBoost</a:t>
            </a:r>
            <a:r>
              <a:rPr lang="en-IN" sz="2400" dirty="0"/>
              <a:t> Classifier: </a:t>
            </a:r>
            <a:r>
              <a:rPr lang="en-IN" sz="2400" b="0" dirty="0"/>
              <a:t>Selected for its superior handling of tabular data and native </a:t>
            </a:r>
            <a:r>
              <a:rPr lang="en-IN" b="0" dirty="0"/>
              <a:t>scale_pos_weight</a:t>
            </a:r>
            <a:r>
              <a:rPr lang="en-IN" sz="2400" b="0" dirty="0"/>
              <a:t> parameter to combat class imbalance.</a:t>
            </a:r>
          </a:p>
          <a:p>
            <a:pPr lvl="0"/>
            <a:r>
              <a:rPr lang="en-IN" sz="2400" dirty="0"/>
              <a:t>Mini-Batch K-Means: </a:t>
            </a:r>
            <a:r>
              <a:rPr lang="en-IN" sz="2400" b="0" dirty="0"/>
              <a:t>Chosen over standard K-Means to allow incremental clustering on live streaming data.</a:t>
            </a:r>
          </a:p>
          <a:p>
            <a:pPr lvl="0"/>
            <a:r>
              <a:rPr lang="en-IN" sz="2400" dirty="0"/>
              <a:t>Local RAG (</a:t>
            </a:r>
            <a:r>
              <a:rPr lang="en-IN" sz="2400" dirty="0" err="1"/>
              <a:t>ChromaDB</a:t>
            </a:r>
            <a:r>
              <a:rPr lang="en-IN" sz="2400" dirty="0"/>
              <a:t> + Llama 3): </a:t>
            </a:r>
            <a:r>
              <a:rPr lang="en-IN" sz="2400" b="0" dirty="0"/>
              <a:t>Selected local deployment via </a:t>
            </a:r>
            <a:r>
              <a:rPr lang="en-IN" sz="2400" b="0" dirty="0" err="1"/>
              <a:t>Ollama</a:t>
            </a:r>
            <a:r>
              <a:rPr lang="en-IN" sz="2400" b="0" dirty="0"/>
              <a:t> instead of cloud APIs to ensure strict enterprise data privacy and security.</a:t>
            </a:r>
          </a:p>
          <a:p>
            <a:pPr lvl="0"/>
            <a:r>
              <a:rPr lang="en-IN" sz="2400" dirty="0" err="1"/>
              <a:t>FastAPI</a:t>
            </a:r>
            <a:r>
              <a:rPr lang="en-IN" sz="2400" dirty="0"/>
              <a:t> &amp; SSE: </a:t>
            </a:r>
            <a:r>
              <a:rPr lang="en-IN" sz="2400" b="0" dirty="0"/>
              <a:t>Chosen over </a:t>
            </a:r>
            <a:r>
              <a:rPr lang="en-IN" sz="2400" b="0" dirty="0" err="1"/>
              <a:t>Streamlit</a:t>
            </a:r>
            <a:r>
              <a:rPr lang="en-IN" sz="2400" b="0" dirty="0"/>
              <a:t> to enable asynchronous background tasks, preventing UI blocking during LLM inference.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Message Broker: </a:t>
            </a:r>
            <a:r>
              <a:rPr lang="en-IN" sz="2400" b="0" dirty="0"/>
              <a:t>Apache Kafka (Confluent-Kafka client)</a:t>
            </a:r>
          </a:p>
          <a:p>
            <a:pPr lvl="0"/>
            <a:r>
              <a:rPr lang="en-IN" sz="2400" dirty="0"/>
              <a:t>Backend Framework: </a:t>
            </a:r>
            <a:r>
              <a:rPr lang="en-IN" sz="2400" b="0" dirty="0" err="1"/>
              <a:t>FastAPI</a:t>
            </a:r>
            <a:r>
              <a:rPr lang="en-IN" sz="2400" b="0" dirty="0"/>
              <a:t>, </a:t>
            </a:r>
            <a:r>
              <a:rPr lang="en-IN" sz="2400" b="0" dirty="0" err="1"/>
              <a:t>Uvicorn</a:t>
            </a:r>
            <a:r>
              <a:rPr lang="en-IN" sz="2400" b="0" dirty="0"/>
              <a:t>, Python </a:t>
            </a:r>
            <a:r>
              <a:rPr lang="en-IN" b="0" dirty="0"/>
              <a:t>asyncio</a:t>
            </a:r>
            <a:endParaRPr lang="en-IN" sz="2400" b="0" dirty="0"/>
          </a:p>
          <a:p>
            <a:pPr lvl="0"/>
            <a:r>
              <a:rPr lang="en-IN" sz="2400" dirty="0"/>
              <a:t>Machine Learning: </a:t>
            </a:r>
            <a:r>
              <a:rPr lang="en-IN" sz="2400" b="0" dirty="0"/>
              <a:t>scikit-learn, </a:t>
            </a:r>
            <a:r>
              <a:rPr lang="en-IN" sz="2400" b="0" dirty="0" err="1"/>
              <a:t>XGBoost</a:t>
            </a:r>
            <a:endParaRPr lang="en-IN" sz="2400" b="0" dirty="0"/>
          </a:p>
          <a:p>
            <a:pPr lvl="0"/>
            <a:r>
              <a:rPr lang="en-IN" sz="2400" dirty="0"/>
              <a:t>Generative AI: </a:t>
            </a:r>
            <a:r>
              <a:rPr lang="en-IN" sz="2400" b="0" dirty="0" err="1"/>
              <a:t>Ollama</a:t>
            </a:r>
            <a:r>
              <a:rPr lang="en-IN" sz="2400" b="0" dirty="0"/>
              <a:t> (Llama 3 - 8B), </a:t>
            </a:r>
            <a:r>
              <a:rPr lang="en-IN" b="0" dirty="0"/>
              <a:t>nomic-embed-text</a:t>
            </a:r>
            <a:endParaRPr lang="en-IN" sz="2400" b="0" dirty="0"/>
          </a:p>
          <a:p>
            <a:pPr lvl="0"/>
            <a:r>
              <a:rPr lang="en-IN" sz="2400" dirty="0"/>
              <a:t>Vector Database: </a:t>
            </a:r>
            <a:r>
              <a:rPr lang="en-IN" sz="2400" b="0" dirty="0" err="1"/>
              <a:t>ChromaDB</a:t>
            </a:r>
            <a:r>
              <a:rPr lang="en-IN" sz="2400" b="0" dirty="0"/>
              <a:t> (Persistent local storage)</a:t>
            </a:r>
          </a:p>
          <a:p>
            <a:pPr lvl="0"/>
            <a:r>
              <a:rPr lang="en-IN" sz="2400" dirty="0"/>
              <a:t>Frontend UI: </a:t>
            </a:r>
            <a:r>
              <a:rPr lang="en-IN" sz="2400" b="0" dirty="0"/>
              <a:t>HTML5, CSS3, Vanilla JS, Chart.js (Server-Sent Events)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Step 1: </a:t>
            </a:r>
            <a:r>
              <a:rPr lang="en-IN" sz="2400" b="0" dirty="0"/>
              <a:t>Kafka Producer streams JSON customer events.</a:t>
            </a:r>
          </a:p>
          <a:p>
            <a:pPr lvl="0"/>
            <a:r>
              <a:rPr lang="en-IN" sz="2400" dirty="0"/>
              <a:t>Step 2: </a:t>
            </a:r>
            <a:r>
              <a:rPr lang="en-IN" sz="2400" b="0" dirty="0" err="1"/>
              <a:t>FastAPI</a:t>
            </a:r>
            <a:r>
              <a:rPr lang="en-IN" sz="2400" b="0" dirty="0"/>
              <a:t> Kafka Reader asynchronously polls events.</a:t>
            </a:r>
          </a:p>
          <a:p>
            <a:pPr lvl="0"/>
            <a:r>
              <a:rPr lang="en-IN" sz="2400" dirty="0"/>
              <a:t>Step 3: </a:t>
            </a:r>
            <a:r>
              <a:rPr lang="en-IN" sz="2400" b="0" dirty="0" err="1"/>
              <a:t>XGBoost</a:t>
            </a:r>
            <a:r>
              <a:rPr lang="en-IN" sz="2400" b="0" dirty="0"/>
              <a:t> computes P(Churn) &amp; K-Means assigns segments.</a:t>
            </a:r>
          </a:p>
          <a:p>
            <a:pPr lvl="0"/>
            <a:r>
              <a:rPr lang="en-IN" sz="2400" dirty="0"/>
              <a:t>Step 4: </a:t>
            </a:r>
            <a:r>
              <a:rPr lang="en-IN" sz="2400" b="0" dirty="0"/>
              <a:t>If P(Churn) &gt;= 0.70, </a:t>
            </a:r>
            <a:r>
              <a:rPr lang="en-IN" sz="2400" b="0" dirty="0" err="1"/>
              <a:t>ChromaDB</a:t>
            </a:r>
            <a:r>
              <a:rPr lang="en-IN" sz="2400" b="0" dirty="0"/>
              <a:t> retrieves relevant SLA policy.</a:t>
            </a:r>
          </a:p>
          <a:p>
            <a:pPr lvl="0"/>
            <a:r>
              <a:rPr lang="en-IN" sz="2400" dirty="0"/>
              <a:t>Step 5: </a:t>
            </a:r>
            <a:r>
              <a:rPr lang="en-IN" sz="2400" b="0" dirty="0"/>
              <a:t>Background task triggers Llama 3 for offer generation.</a:t>
            </a:r>
          </a:p>
          <a:p>
            <a:pPr lvl="0"/>
            <a:r>
              <a:rPr lang="en-IN" sz="2400" dirty="0"/>
              <a:t>Step 6: </a:t>
            </a:r>
            <a:r>
              <a:rPr lang="en-IN" sz="2400" b="0" dirty="0"/>
              <a:t>Dashboard instantly updates charts and renders AI offers asynchronously.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IN" sz="2400" dirty="0">
                <a:highlight>
                  <a:srgbClr val="FFFFFF"/>
                </a:highlight>
              </a:rPr>
              <a:t>ML Metrics: </a:t>
            </a:r>
            <a:r>
              <a:rPr lang="en-IN" sz="2400" b="0" dirty="0">
                <a:highlight>
                  <a:srgbClr val="FFFFFF"/>
                </a:highlight>
              </a:rPr>
              <a:t>Baseline </a:t>
            </a:r>
            <a:r>
              <a:rPr lang="en-IN" sz="2400" b="0" dirty="0" err="1">
                <a:highlight>
                  <a:srgbClr val="FFFFFF"/>
                </a:highlight>
              </a:rPr>
              <a:t>XGBoost</a:t>
            </a:r>
            <a:r>
              <a:rPr lang="en-IN" sz="2400" b="0" dirty="0">
                <a:highlight>
                  <a:srgbClr val="FFFFFF"/>
                </a:highlight>
              </a:rPr>
              <a:t> model achieved robust classification performance with a weighted evaluation metric handling the 73:27 imbalance.</a:t>
            </a:r>
          </a:p>
          <a:p>
            <a:pPr lvl="0"/>
            <a:r>
              <a:rPr lang="en-IN" sz="2400" dirty="0">
                <a:highlight>
                  <a:srgbClr val="FFFFFF"/>
                </a:highlight>
              </a:rPr>
              <a:t>Latency Optimization: </a:t>
            </a:r>
            <a:r>
              <a:rPr lang="en-IN" sz="2400" b="0" dirty="0">
                <a:highlight>
                  <a:srgbClr val="FFFFFF"/>
                </a:highlight>
              </a:rPr>
              <a:t>Transitioned from a synchronous UI to </a:t>
            </a:r>
            <a:r>
              <a:rPr lang="en-IN" sz="2400" b="0" dirty="0" err="1">
                <a:highlight>
                  <a:srgbClr val="FFFFFF"/>
                </a:highlight>
              </a:rPr>
              <a:t>FastAPI</a:t>
            </a:r>
            <a:r>
              <a:rPr lang="en-IN" sz="2400" b="0" dirty="0">
                <a:highlight>
                  <a:srgbClr val="FFFFFF"/>
                </a:highlight>
              </a:rPr>
              <a:t>, reducing metric update latency to &lt;0.1 seconds.</a:t>
            </a:r>
          </a:p>
          <a:p>
            <a:pPr lvl="0"/>
            <a:r>
              <a:rPr lang="en-IN" sz="2400" dirty="0">
                <a:highlight>
                  <a:srgbClr val="FFFFFF"/>
                </a:highlight>
              </a:rPr>
              <a:t>LLM Isolation: </a:t>
            </a:r>
            <a:r>
              <a:rPr lang="en-IN" sz="2400" b="0" dirty="0">
                <a:highlight>
                  <a:srgbClr val="FFFFFF"/>
                </a:highlight>
              </a:rPr>
              <a:t>Implemented non-blocking background tasks, successfully isolating the 5-10 second Llama 3 generation time from the main Kafka stream.</a:t>
            </a:r>
          </a:p>
          <a:p>
            <a:pPr lvl="0"/>
            <a:r>
              <a:rPr lang="en-IN" sz="2400" dirty="0">
                <a:highlight>
                  <a:srgbClr val="FFFFFF"/>
                </a:highlight>
              </a:rPr>
              <a:t>UI Delivery: </a:t>
            </a:r>
            <a:r>
              <a:rPr lang="en-IN" sz="2400" b="0" dirty="0">
                <a:highlight>
                  <a:srgbClr val="FFFFFF"/>
                </a:highlight>
              </a:rPr>
              <a:t>Successfully rendering an actionable queue of the latest 15 high-risk customers with dynamically generated text.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Intermediate results &amp; Evaluation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Completed Milestones:</a:t>
            </a:r>
          </a:p>
          <a:p>
            <a:pPr lvl="0"/>
            <a:r>
              <a:rPr lang="en-IN" sz="2400" b="0" dirty="0"/>
              <a:t>Data Preprocessing &amp; </a:t>
            </a:r>
            <a:r>
              <a:rPr lang="en-IN" sz="2400" b="0" dirty="0" err="1"/>
              <a:t>XGBoost</a:t>
            </a:r>
            <a:r>
              <a:rPr lang="en-IN" sz="2400" b="0" dirty="0"/>
              <a:t> Pipeline Export</a:t>
            </a:r>
          </a:p>
          <a:p>
            <a:pPr lvl="0"/>
            <a:r>
              <a:rPr lang="en-IN" sz="2400" b="0" dirty="0"/>
              <a:t>Apache Kafka Producer-Consumer integration</a:t>
            </a:r>
          </a:p>
          <a:p>
            <a:pPr lvl="0"/>
            <a:r>
              <a:rPr lang="en-IN" sz="2400" b="0" dirty="0"/>
              <a:t>RAG Vector Indexing (</a:t>
            </a:r>
            <a:r>
              <a:rPr lang="en-IN" sz="2400" b="0" dirty="0" err="1"/>
              <a:t>ChromaDB</a:t>
            </a:r>
            <a:r>
              <a:rPr lang="en-IN" sz="2400" b="0" dirty="0"/>
              <a:t>)</a:t>
            </a:r>
          </a:p>
          <a:p>
            <a:pPr lvl="0"/>
            <a:r>
              <a:rPr lang="en-IN" sz="2400" b="0" dirty="0"/>
              <a:t>Asynchronous Dashboard &amp; Two-Column UI deployment</a:t>
            </a:r>
          </a:p>
          <a:p>
            <a:pPr marL="0" indent="0"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613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Swapnadeep Das</cp:lastModifiedBy>
  <cp:revision>13</cp:revision>
  <dcterms:created xsi:type="dcterms:W3CDTF">2024-05-13T10:33:11Z</dcterms:created>
  <dcterms:modified xsi:type="dcterms:W3CDTF">2026-09-21T06:03:00Z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